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8" r:id="rId12"/>
    <p:sldId id="267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6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4FE08-B0FB-7695-CA35-B9B016E202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3C0289-FCCA-E4C5-5F1A-4DA76658CC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938877-5D47-B26A-46BC-EC322243C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E0F5E-E4EB-4401-B61E-2693BED5E12D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42E9D3-6E12-DFE5-D38C-9BB106538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838377-C88E-300B-0BB2-31FD3027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0FBA5-A2EB-47BB-8360-617AC4E11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2923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5955C-A4AF-75A3-5B14-8824BC009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610A24-304D-2C24-02C1-BA3F52B5FF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AD18E5-B944-A001-A5D2-5DE376869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E0F5E-E4EB-4401-B61E-2693BED5E12D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6982D8-4BC4-E019-63AD-B5CD331E8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0E982D-1388-E8BB-3ACF-011848BD6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0FBA5-A2EB-47BB-8360-617AC4E11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787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6CA49-B644-F5D7-E785-734AF2CBB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E13E83-2DC7-356F-F443-B54E11A2A5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10095B-BE83-818B-9777-DE13998EB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E0F5E-E4EB-4401-B61E-2693BED5E12D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8513CC-2E02-5B13-9151-05D495389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DE45F6-7741-F63B-876D-64F32FB29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0FBA5-A2EB-47BB-8360-617AC4E11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6012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A182F-F407-48B8-BEF2-8FE0AD1FD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A5191-BBDA-61EC-AA1C-544CC26FDE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5532A0-6770-7A5A-A30F-4DC29A3288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A21A80-5FCD-3F7C-E6EA-72EEC73A3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E0F5E-E4EB-4401-B61E-2693BED5E12D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006F81-43E3-F265-133C-3B188375B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AD744E-7C2A-CDF5-86A9-B48D9E3CE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0FBA5-A2EB-47BB-8360-617AC4E11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130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F1A6A-14FB-F398-CF5F-DF33EA6C4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6BF58B-D992-2523-DE28-C700880FB7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EF5A51-FE2B-8962-7CD0-012810DB8D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544BEA-1FBA-55FA-30C4-62211F3185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5B0E5B-A602-D44B-815B-A83D72532D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75AF2E-B6B2-9F13-2D22-C7A24C641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E0F5E-E4EB-4401-B61E-2693BED5E12D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6B070C-79DE-2E3D-FF83-DB2A9E1F1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949D90-5FAB-7B30-440B-395C8F452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0FBA5-A2EB-47BB-8360-617AC4E11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7029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44CC3-F591-FDD8-F10C-F035FF206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97505F-AC30-7909-FB84-24E868FF3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E0F5E-E4EB-4401-B61E-2693BED5E12D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36EC4A-A355-A32A-6B5A-7A9B2B5D3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66DFA6-E230-AD36-31F4-1DBA91C90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0FBA5-A2EB-47BB-8360-617AC4E11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0558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843F24-95B4-5323-0E16-1C679F9B0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E0F5E-E4EB-4401-B61E-2693BED5E12D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2D5A67-E7E6-9D61-F66B-6B8E2423C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481A2D-D620-6F55-6743-1E7F18FDA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0FBA5-A2EB-47BB-8360-617AC4E11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4512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CCDF5-AD0D-A71D-7915-D6C86FBA4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0C6FD3-3F2D-E0AA-6C7C-ED8DF90E0D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130A18-0299-DE62-E22E-A522633687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3FE858-D029-FBD8-CA78-283E7A4DE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E0F5E-E4EB-4401-B61E-2693BED5E12D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ACD517-C0F2-7E14-3D48-342A71C87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E90F04-84DD-6D98-A97E-420377675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0FBA5-A2EB-47BB-8360-617AC4E11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4176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961C3-58EA-0FF9-D9E7-7E6382790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77BD95-FFD5-D2AC-E0BF-A6DBA80BBA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3C77E4-E9FE-06FB-93BF-CCA9C0ABB3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1BAC27-B835-FFCD-61CC-BDD27F7C7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E0F5E-E4EB-4401-B61E-2693BED5E12D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6D53CB-083C-CC8A-3229-F4422C576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071399-5D92-C8B6-80F7-BD8255790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0FBA5-A2EB-47BB-8360-617AC4E11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119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FAAF2-0A30-1DB4-3577-36E969670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9302D0-46A8-C506-CED4-5C6E3C8AF6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C9E096-AC50-583B-A4CA-A8B4DCB18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E0F5E-E4EB-4401-B61E-2693BED5E12D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F21415-C178-7782-197C-32011D098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D2D042-E042-1684-DD32-E4AAEABE8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0FBA5-A2EB-47BB-8360-617AC4E11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817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534DF1-C999-4833-6CBA-D5B1020077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965085-66B4-4640-870F-CD2CECFC57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C6549A-98B2-A795-A5A4-3DAB9BEBD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E0F5E-E4EB-4401-B61E-2693BED5E12D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907560-4177-14EC-1483-950EE36B4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BBAF15-3036-1EEE-EF0F-626B5001F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0FBA5-A2EB-47BB-8360-617AC4E11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576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C309E8-E0B8-DB8F-603E-DD5D3E2FF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7F972F-C146-A051-4B72-4A54F85643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9CF153-556A-50DB-CA37-3131B48CC0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8E0F5E-E4EB-4401-B61E-2693BED5E12D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7C2A4-B359-434D-EE50-A220A20BD9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52CFA-51DA-86E1-A9E8-9F91534D18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40FBA5-A2EB-47BB-8360-617AC4E11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260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CCF42-35F4-5D83-94D9-105DB7387F7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ECE 8893 Lab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07F4F2-562B-1945-8D97-57ECE9D3A81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Pulkit Gupta</a:t>
            </a:r>
          </a:p>
        </p:txBody>
      </p:sp>
    </p:spTree>
    <p:extLst>
      <p:ext uri="{BB962C8B-B14F-4D97-AF65-F5344CB8AC3E}">
        <p14:creationId xmlns:p14="http://schemas.microsoft.com/office/powerpoint/2010/main" val="12879440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1DDAE-5710-C65B-82D3-C079CDD3B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Optimization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22FC0C-52FA-39D7-99E4-9F23DD09B2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Software:</a:t>
            </a:r>
          </a:p>
          <a:p>
            <a:pPr lvl="1"/>
            <a:r>
              <a:rPr lang="en-US" dirty="0"/>
              <a:t>Removing redundant computation</a:t>
            </a:r>
          </a:p>
          <a:p>
            <a:pPr lvl="1"/>
            <a:r>
              <a:rPr lang="en-US" dirty="0"/>
              <a:t>Changing traversals/iterations to improve locality/parallelizability</a:t>
            </a:r>
          </a:p>
          <a:p>
            <a:pPr lvl="1"/>
            <a:r>
              <a:rPr lang="en-US" dirty="0"/>
              <a:t>Algorithmic optimizations</a:t>
            </a:r>
          </a:p>
          <a:p>
            <a:r>
              <a:rPr lang="en-US" dirty="0"/>
              <a:t>HLS/Hardware:</a:t>
            </a:r>
          </a:p>
          <a:p>
            <a:pPr lvl="1"/>
            <a:r>
              <a:rPr lang="en-US" dirty="0"/>
              <a:t>FPGA specific code transforms (creating a register where HLS doesn’t)</a:t>
            </a:r>
          </a:p>
          <a:p>
            <a:pPr lvl="1"/>
            <a:r>
              <a:rPr lang="en-US" dirty="0"/>
              <a:t>Pragma tweaks</a:t>
            </a:r>
          </a:p>
          <a:p>
            <a:pPr lvl="1"/>
            <a:r>
              <a:rPr lang="en-US" dirty="0"/>
              <a:t>Interface tweaks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0952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63E37-0710-8D6A-E1BA-86082ECBD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Goals when optimizing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FEC662-BB92-207E-61F4-5BDB4E34724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Look at the Amdahl’s fraction</a:t>
                </a:r>
              </a:p>
              <a:p>
                <a:endParaRPr lang="en-US" dirty="0"/>
              </a:p>
              <a:p>
                <a:r>
                  <a:rPr lang="en-US" dirty="0"/>
                  <a:t>Speedup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 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den>
                        </m:f>
                      </m:den>
                    </m:f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f: fraction of the computation that can be accelerated</a:t>
                </a:r>
              </a:p>
              <a:p>
                <a:pPr lvl="1"/>
                <a:r>
                  <a:rPr lang="en-US" dirty="0"/>
                  <a:t>N: speedup/parallelism/</a:t>
                </a:r>
                <a:r>
                  <a:rPr lang="en-US" dirty="0" err="1"/>
                  <a:t>etc</a:t>
                </a:r>
                <a:r>
                  <a:rPr lang="en-US" dirty="0"/>
                  <a:t> in that fraction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As you optimize, the constraining portion may change!</a:t>
                </a:r>
              </a:p>
              <a:p>
                <a:r>
                  <a:rPr lang="en-US" dirty="0"/>
                  <a:t>You can also apply this to area utilization as well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FEC662-BB92-207E-61F4-5BDB4E3472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60784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85C2C-3166-7FFD-98DD-5496A8A8C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computation: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AC78B0-E060-4B1A-A61B-7E23A2C40D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Loop over rows of A</a:t>
            </a:r>
          </a:p>
          <a:p>
            <a:pPr lvl="1"/>
            <a:r>
              <a:rPr lang="en-US" dirty="0"/>
              <a:t>Loop over entries in row</a:t>
            </a:r>
          </a:p>
          <a:p>
            <a:pPr lvl="2"/>
            <a:r>
              <a:rPr lang="en-US" dirty="0"/>
              <a:t>Accumulate</a:t>
            </a:r>
          </a:p>
          <a:p>
            <a:pPr lvl="1"/>
            <a:r>
              <a:rPr lang="en-US" dirty="0"/>
              <a:t>Loop over entries in row</a:t>
            </a:r>
          </a:p>
          <a:p>
            <a:pPr lvl="2"/>
            <a:r>
              <a:rPr lang="en-US" dirty="0"/>
              <a:t>Divide by the row sum and save in </a:t>
            </a:r>
            <a:r>
              <a:rPr lang="en-US" dirty="0" err="1"/>
              <a:t>tmp</a:t>
            </a:r>
            <a:endParaRPr lang="en-US" dirty="0"/>
          </a:p>
          <a:p>
            <a:r>
              <a:rPr lang="en-US" dirty="0"/>
              <a:t>Loop over the columns of </a:t>
            </a:r>
            <a:r>
              <a:rPr lang="en-US" dirty="0" err="1"/>
              <a:t>tmp</a:t>
            </a:r>
            <a:endParaRPr lang="en-US" dirty="0"/>
          </a:p>
          <a:p>
            <a:pPr lvl="1"/>
            <a:r>
              <a:rPr lang="en-US" dirty="0"/>
              <a:t>Loop over entries in column of </a:t>
            </a:r>
            <a:r>
              <a:rPr lang="en-US" dirty="0" err="1"/>
              <a:t>tmp</a:t>
            </a:r>
            <a:endParaRPr lang="en-US" dirty="0"/>
          </a:p>
          <a:p>
            <a:pPr lvl="2"/>
            <a:r>
              <a:rPr lang="en-US" dirty="0"/>
              <a:t>Accumulate</a:t>
            </a:r>
          </a:p>
          <a:p>
            <a:pPr lvl="1"/>
            <a:r>
              <a:rPr lang="en-US" dirty="0"/>
              <a:t>Loop over entries in column of </a:t>
            </a:r>
            <a:r>
              <a:rPr lang="en-US" dirty="0" err="1"/>
              <a:t>tmp</a:t>
            </a:r>
            <a:endParaRPr lang="en-US" dirty="0"/>
          </a:p>
          <a:p>
            <a:pPr lvl="2"/>
            <a:r>
              <a:rPr lang="en-US" dirty="0"/>
              <a:t>Scale by the sum and save in C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13499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23134-125F-CB3E-8986-9B39A7A25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97D9A-26D8-CF18-8DE5-90CA5FF0E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 opt: remove excess iterations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7009D-A098-3C04-27BA-B4F53A4858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Loop over rows of A</a:t>
            </a:r>
          </a:p>
          <a:p>
            <a:pPr lvl="1"/>
            <a:r>
              <a:rPr lang="en-US" dirty="0"/>
              <a:t>Loop over entries in row</a:t>
            </a:r>
          </a:p>
          <a:p>
            <a:pPr lvl="2"/>
            <a:r>
              <a:rPr lang="en-US" dirty="0"/>
              <a:t>Accumulate</a:t>
            </a:r>
          </a:p>
          <a:p>
            <a:pPr lvl="1"/>
            <a:r>
              <a:rPr lang="en-US" dirty="0"/>
              <a:t>Loop over entries in row</a:t>
            </a:r>
          </a:p>
          <a:p>
            <a:pPr lvl="2"/>
            <a:r>
              <a:rPr lang="en-US" dirty="0"/>
              <a:t>Divide by the row sum and save in </a:t>
            </a:r>
            <a:r>
              <a:rPr lang="en-US" dirty="0" err="1"/>
              <a:t>tmp</a:t>
            </a:r>
            <a:endParaRPr lang="en-US" dirty="0"/>
          </a:p>
          <a:p>
            <a:r>
              <a:rPr lang="en-US" dirty="0"/>
              <a:t>Loop over the columns of </a:t>
            </a:r>
            <a:r>
              <a:rPr lang="en-US" dirty="0" err="1"/>
              <a:t>tmp</a:t>
            </a:r>
            <a:endParaRPr lang="en-US" dirty="0"/>
          </a:p>
          <a:p>
            <a:pPr lvl="1"/>
            <a:r>
              <a:rPr lang="en-US" dirty="0"/>
              <a:t>Loop over entries in column of </a:t>
            </a:r>
            <a:r>
              <a:rPr lang="en-US" dirty="0" err="1"/>
              <a:t>tmp</a:t>
            </a:r>
            <a:endParaRPr lang="en-US" dirty="0"/>
          </a:p>
          <a:p>
            <a:pPr lvl="2"/>
            <a:r>
              <a:rPr lang="en-US" dirty="0"/>
              <a:t>Accumulate</a:t>
            </a:r>
          </a:p>
          <a:p>
            <a:pPr lvl="1"/>
            <a:r>
              <a:rPr lang="en-US" dirty="0"/>
              <a:t>Loop over entries in column of </a:t>
            </a:r>
            <a:r>
              <a:rPr lang="en-US" dirty="0" err="1"/>
              <a:t>tmp</a:t>
            </a:r>
            <a:endParaRPr lang="en-US" dirty="0"/>
          </a:p>
          <a:p>
            <a:pPr lvl="2"/>
            <a:r>
              <a:rPr lang="en-US" dirty="0"/>
              <a:t>Scale by the sum and save in C</a:t>
            </a:r>
          </a:p>
          <a:p>
            <a:pPr lvl="1"/>
            <a:endParaRPr lang="en-US" dirty="0"/>
          </a:p>
        </p:txBody>
      </p:sp>
      <p:sp>
        <p:nvSpPr>
          <p:cNvPr id="9" name="Arrow: Circular 8">
            <a:extLst>
              <a:ext uri="{FF2B5EF4-FFF2-40B4-BE49-F238E27FC236}">
                <a16:creationId xmlns:a16="http://schemas.microsoft.com/office/drawing/2014/main" id="{5F5C13A5-8B59-6A88-D34C-590C4DAB0CD3}"/>
              </a:ext>
            </a:extLst>
          </p:cNvPr>
          <p:cNvSpPr/>
          <p:nvPr/>
        </p:nvSpPr>
        <p:spPr>
          <a:xfrm rot="5400000" flipH="1">
            <a:off x="5592417" y="3008907"/>
            <a:ext cx="1656522" cy="2086554"/>
          </a:xfrm>
          <a:prstGeom prst="circular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17C3BF-5D79-A12D-3938-B9E73FD14F95}"/>
              </a:ext>
            </a:extLst>
          </p:cNvPr>
          <p:cNvSpPr txBox="1"/>
          <p:nvPr/>
        </p:nvSpPr>
        <p:spPr>
          <a:xfrm>
            <a:off x="8130209" y="2961860"/>
            <a:ext cx="23853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we create an array of column sums, we can populate during the first set of loops</a:t>
            </a:r>
          </a:p>
        </p:txBody>
      </p:sp>
    </p:spTree>
    <p:extLst>
      <p:ext uri="{BB962C8B-B14F-4D97-AF65-F5344CB8AC3E}">
        <p14:creationId xmlns:p14="http://schemas.microsoft.com/office/powerpoint/2010/main" val="6306197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9B8C1-2364-B4FF-CCE4-097697088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colsums</a:t>
            </a:r>
            <a:r>
              <a:rPr lang="en-US" dirty="0"/>
              <a:t> array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2604587-2CAE-12D7-67D8-29539331F09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407014" y="1825625"/>
            <a:ext cx="4043971" cy="4351338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750A24-E6E4-ACE5-78DA-66B7F4526D6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Taking the sum of a column while we generate the values. </a:t>
            </a:r>
          </a:p>
          <a:p>
            <a:r>
              <a:rPr lang="en-US" dirty="0"/>
              <a:t>Removes at least an extra 64*256 cycles</a:t>
            </a:r>
          </a:p>
        </p:txBody>
      </p:sp>
    </p:spTree>
    <p:extLst>
      <p:ext uri="{BB962C8B-B14F-4D97-AF65-F5344CB8AC3E}">
        <p14:creationId xmlns:p14="http://schemas.microsoft.com/office/powerpoint/2010/main" val="5866691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41F34-5560-7E0F-BB73-7A3130473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5414"/>
          </a:xfrm>
        </p:spPr>
        <p:txBody>
          <a:bodyPr>
            <a:normAutofit fontScale="90000"/>
          </a:bodyPr>
          <a:lstStyle/>
          <a:p>
            <a:r>
              <a:rPr lang="en-US" dirty="0"/>
              <a:t>Basic pipelining and unrolling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9CB2B48-00A2-86FB-53D8-A9EDB6C8F6C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239078" y="1048665"/>
            <a:ext cx="4532244" cy="5713148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612786-6E28-C2AE-8CB9-BF748B1CD87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Unroll inner loops a bit and pipeline where possible</a:t>
            </a:r>
          </a:p>
          <a:p>
            <a:r>
              <a:rPr lang="en-US" dirty="0"/>
              <a:t>Array partition to allow the unrolled parts to be in parallel</a:t>
            </a:r>
          </a:p>
          <a:p>
            <a:r>
              <a:rPr lang="en-US" dirty="0"/>
              <a:t>Manually create tree reductions since HLS is dumb</a:t>
            </a:r>
          </a:p>
          <a:p>
            <a:r>
              <a:rPr lang="en-US" dirty="0"/>
              <a:t>Cannot unroll more because the divider takes too much space</a:t>
            </a:r>
          </a:p>
        </p:txBody>
      </p:sp>
    </p:spTree>
    <p:extLst>
      <p:ext uri="{BB962C8B-B14F-4D97-AF65-F5344CB8AC3E}">
        <p14:creationId xmlns:p14="http://schemas.microsoft.com/office/powerpoint/2010/main" val="39050934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63368-1E8C-C107-1C7D-978A928DD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Eliminating the divider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55EA6E-307A-BC7B-D16E-42BA7B1393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Replace division in the loop with division outside the loop and then multiplications with the reciprocal</a:t>
            </a:r>
          </a:p>
          <a:p>
            <a:endParaRPr lang="en-US" dirty="0"/>
          </a:p>
          <a:p>
            <a:r>
              <a:rPr lang="en-US" dirty="0"/>
              <a:t>Precision becomes a problem.</a:t>
            </a:r>
          </a:p>
          <a:p>
            <a:r>
              <a:rPr lang="en-US" dirty="0"/>
              <a:t>Array is 64 wide with values between 0.1-9.9. that means the row sum is at most 640</a:t>
            </a:r>
          </a:p>
          <a:p>
            <a:r>
              <a:rPr lang="en-US" dirty="0"/>
              <a:t>Since its “randomly distributed” lets assume its less than 512.</a:t>
            </a:r>
          </a:p>
          <a:p>
            <a:r>
              <a:rPr lang="en-US" dirty="0"/>
              <a:t>Reciprocal: 512/</a:t>
            </a:r>
            <a:r>
              <a:rPr lang="en-US" dirty="0" err="1"/>
              <a:t>denom</a:t>
            </a:r>
            <a:endParaRPr lang="en-US" dirty="0"/>
          </a:p>
          <a:p>
            <a:r>
              <a:rPr lang="en-US" dirty="0"/>
              <a:t>Product: (A[</a:t>
            </a:r>
            <a:r>
              <a:rPr lang="en-US" dirty="0" err="1"/>
              <a:t>i</a:t>
            </a:r>
            <a:r>
              <a:rPr lang="en-US" dirty="0"/>
              <a:t>][j] * reciprocal) &gt;&gt; 9</a:t>
            </a:r>
          </a:p>
        </p:txBody>
      </p:sp>
    </p:spTree>
    <p:extLst>
      <p:ext uri="{BB962C8B-B14F-4D97-AF65-F5344CB8AC3E}">
        <p14:creationId xmlns:p14="http://schemas.microsoft.com/office/powerpoint/2010/main" val="32892012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D5B5D-9C23-416B-769D-CC157992F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833730" cy="5611605"/>
          </a:xfrm>
        </p:spPr>
        <p:txBody>
          <a:bodyPr/>
          <a:lstStyle/>
          <a:p>
            <a:r>
              <a:rPr lang="en-US" dirty="0"/>
              <a:t>Can even unroll 2 iterations of I inside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7C20F65-A271-69C3-E3F7-D3432EA1B8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97175" y="78343"/>
            <a:ext cx="5556625" cy="6701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8863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16A79-64F1-0B9C-9BD2-42F22251B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bottleneck arises Data Movement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87DE01-5548-335D-641E-AC166DDEE4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Moving the data into and out of dram takes at least 256*64 cycles each time</a:t>
            </a:r>
          </a:p>
          <a:p>
            <a:pPr lvl="1"/>
            <a:r>
              <a:rPr lang="en-US" dirty="0"/>
              <a:t>I was down to ~33000 cycles, 32768 of which is the data movement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F5FBBF-CB84-D4F6-EA9D-DA7004858B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4627" y="3676169"/>
            <a:ext cx="5599044" cy="29591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3A16F2E-3902-486C-1DA4-C6B74C3C5E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2976" y="3227194"/>
            <a:ext cx="3400900" cy="419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2252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66C96-2AB3-960A-05D4-6F4E07539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Overlap compute with data movement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C5C1AA-23B0-741C-E1A2-BA1ADF8D1A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Scale elements of c as we write them to dram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60FFCC-A51B-E73C-48A5-E41B10D66B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99" y="2544859"/>
            <a:ext cx="5721401" cy="4313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2161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EB1BA-C098-5630-16AB-09FF3D782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2D6723-F870-D654-80DC-F150027A86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2241 cycles @ 7.177 ns period</a:t>
            </a:r>
          </a:p>
          <a:p>
            <a:endParaRPr lang="en-US" dirty="0"/>
          </a:p>
          <a:p>
            <a:r>
              <a:rPr lang="en-US" dirty="0"/>
              <a:t>2048 cycles of which are the data movement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57114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F735D-4360-F9CE-0BDD-BC4B0F562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 faster code discovered after the deadline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570CF-E60C-80DE-F5AE-C2CF354BA7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1083 cycles @ 7.210 ns</a:t>
            </a:r>
          </a:p>
          <a:p>
            <a:pPr lvl="1"/>
            <a:r>
              <a:rPr lang="en-US" dirty="0"/>
              <a:t>881.3x speedup</a:t>
            </a:r>
          </a:p>
          <a:p>
            <a:r>
              <a:rPr lang="en-US" dirty="0"/>
              <a:t>Trick HLS into breaking the dram into 2 channels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53910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</TotalTime>
  <Words>465</Words>
  <Application>Microsoft Office PowerPoint</Application>
  <PresentationFormat>Widescreen</PresentationFormat>
  <Paragraphs>73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Cambria Math</vt:lpstr>
      <vt:lpstr>Office Theme</vt:lpstr>
      <vt:lpstr>ECE 8893 Lab 1</vt:lpstr>
      <vt:lpstr>Optimization types</vt:lpstr>
      <vt:lpstr>Goals when optimizing</vt:lpstr>
      <vt:lpstr>The computation:</vt:lpstr>
      <vt:lpstr>SW opt: remove excess iterations</vt:lpstr>
      <vt:lpstr>colsums array</vt:lpstr>
      <vt:lpstr>Basic pipelining and unrolling</vt:lpstr>
      <vt:lpstr>Eliminating the divider</vt:lpstr>
      <vt:lpstr>Can even unroll 2 iterations of I inside</vt:lpstr>
      <vt:lpstr>New bottleneck arises Data Movement</vt:lpstr>
      <vt:lpstr>Overlap compute with data movement</vt:lpstr>
      <vt:lpstr>Final code</vt:lpstr>
      <vt:lpstr>Even faster code discovered after the deadline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Gupta, Pulkit</dc:creator>
  <cp:lastModifiedBy>Gupta, Pulkit</cp:lastModifiedBy>
  <cp:revision>1</cp:revision>
  <dcterms:created xsi:type="dcterms:W3CDTF">2026-02-19T19:03:14Z</dcterms:created>
  <dcterms:modified xsi:type="dcterms:W3CDTF">2026-02-19T21:59:46Z</dcterms:modified>
</cp:coreProperties>
</file>