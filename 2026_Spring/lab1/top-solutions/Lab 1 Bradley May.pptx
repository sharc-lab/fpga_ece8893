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2829A-E7F6-6B40-87C8-D2154E87AA92}" v="979" dt="2026-02-19T20:29:19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7"/>
    <p:restoredTop sz="94678"/>
  </p:normalViewPr>
  <p:slideViewPr>
    <p:cSldViewPr snapToGrid="0">
      <p:cViewPr varScale="1">
        <p:scale>
          <a:sx n="105" d="100"/>
          <a:sy n="105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2D6A-F893-9D1D-499B-9020777B4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8757F-4135-10E6-F3E8-771972B46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8A9D-BCA3-02EA-EA24-D355714C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D9CA4-6A87-49D5-48ED-7E80432F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0E792-6CF7-58DE-2F9E-ECFA4B5F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8812-86F1-8EED-9026-2AEF94B9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D0A9-83D9-706F-1219-F38F4EBAB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CCDA-C1E3-B03F-5F8B-173DE8B9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5ECD-C6A8-591C-515F-E46C3945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6C70-13DE-C128-66D5-C5D72332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9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4443-D8BB-D04B-951E-A2F17027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B8F42-5566-0F84-3B30-6F47C6A27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23F9-95C1-1055-5A8A-A122B87D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0EC0-6946-2713-5D8D-4C9557B2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9599A-32B5-C0F9-4497-A0A77726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0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4E05-6A6D-A6CC-CAF2-3A633EA0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FF8A-AF7B-A4B4-7661-3F3A2BC8D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E0966-6E2E-2E58-E1D0-9A04C8EDD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06775-B457-C1BE-C93F-C5A5C3B0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1C79-F424-F5F5-464C-223D598F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670F6-BA9C-D6FB-4101-86CC9AF4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6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55B6-5E83-7EA2-E018-080E141C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E7F38-9F09-0214-1320-CF83E5FA3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BE9C9-81FE-4144-BCFD-ABB0C8F9F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7F22C-4C9E-E16A-0C53-C4429DB81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387E3-3C9F-BB57-FB79-B1936852C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95CD9-7CCD-E363-145F-2C323F7B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A6869-48E2-5757-866E-806629D7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ED2C2C-917D-30AE-5EFD-84BB65D4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6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E8C1-5770-7300-E3DD-139B1C2E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2BC38-976B-0356-2151-C2DF70C8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0133E-09E6-D295-5B2A-4F768F5B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6BC28-2255-CEAF-1E30-DEAC3A63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2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4A36F-270D-0321-C910-055613CA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4D414-BD9E-B549-F363-98C7DE6C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91153-7E2F-66C2-CD09-C935E49C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96EA-8729-A73A-F955-0C8529193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52F7-2ACE-3E1A-7F77-A6E98EFE3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4EA2-26F2-4560-1F86-9F070D410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E6CE6-C5B1-F9AC-EF70-661BF588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88AA-FBC7-CD89-1476-1CDB2628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629AB-835F-1F79-66BA-96C07386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0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3C7F-87ED-A0D5-84B2-98163DB3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BC934-8FF7-49E9-4A66-943204599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D78D5-0793-05D4-7320-E2D1BE1AF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6EB8B-7887-4B2C-6CBB-2D86CCEE8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90E1C-97DB-1175-9618-331B0F2F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46626-FF58-A98F-CCC7-72656A83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0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96ED-6EAD-EF0F-9B0A-D946D9F4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7B8AA-E800-0E80-F7BE-D0423EB5A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90485-1DEF-3B1F-345A-ACF548BB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9468E-CC70-05EA-4BCD-F8E6BAAD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EFA13-B974-5C83-88DA-6354BB37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0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5250B-9241-63D9-2518-B215B3935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091A1-FCE3-BACE-7217-34F708EB9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CCCA7-05B6-4B55-CC71-B22745FD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AD6A-4AC2-8930-47D4-B52A9860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8F08-1F5B-4208-9A38-284E1CD0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1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FC317-2580-E33C-B1F8-CE642E2B3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EA72A-0D07-2686-A1B1-B5743D399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813B9-1885-9825-59A1-A3F88A190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C3067-6269-FE48-9C92-A46E0DB705B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4370C-DA57-47C3-AC55-D2407BF55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33E4-2E35-1230-7B2C-80CAF791E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B56EB-9213-874E-9AEF-4396FD869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9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3874-637F-5A4B-0819-716C3B86A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FPGA Lab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28356-9B6F-9E26-527E-1A1820DD2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Bradley May</a:t>
            </a:r>
          </a:p>
        </p:txBody>
      </p:sp>
    </p:spTree>
    <p:extLst>
      <p:ext uri="{BB962C8B-B14F-4D97-AF65-F5344CB8AC3E}">
        <p14:creationId xmlns:p14="http://schemas.microsoft.com/office/powerpoint/2010/main" val="155457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985F6-BF54-D1B9-AD8F-0EEA06C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46664-BD96-5FA5-8754-C5262A853FB0}"/>
              </a:ext>
            </a:extLst>
          </p:cNvPr>
          <p:cNvSpPr txBox="1"/>
          <p:nvPr/>
        </p:nvSpPr>
        <p:spPr>
          <a:xfrm>
            <a:off x="228599" y="1295400"/>
            <a:ext cx="6651171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merged_read_norm_loop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N_ROWS;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[N_COLS];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ARRAY_PARTITION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variable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5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complete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N_COLS;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II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= 1</a:t>
            </a:r>
            <a:b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512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wide_access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A_WIDE_ACCESS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j)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unsigned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wide_access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8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k);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if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48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8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one_shifted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one_shifted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  <a:b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c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c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sz="8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division_correct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[c],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][c]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tmp_col_sum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[c]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850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366C6A-1D71-29C8-0570-3EBBD9CF53A3}"/>
              </a:ext>
            </a:extLst>
          </p:cNvPr>
          <p:cNvSpPr/>
          <p:nvPr/>
        </p:nvSpPr>
        <p:spPr>
          <a:xfrm>
            <a:off x="5775487" y="2154803"/>
            <a:ext cx="320513" cy="3627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91BE7-C3B4-532B-1862-5EE625C5A1F6}"/>
              </a:ext>
            </a:extLst>
          </p:cNvPr>
          <p:cNvSpPr txBox="1"/>
          <p:nvPr/>
        </p:nvSpPr>
        <p:spPr>
          <a:xfrm>
            <a:off x="6615484" y="2138697"/>
            <a:ext cx="2512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Cast to 512-bit AXI bus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CD34D64-478D-8A7A-9B5A-A48C13BBF6C6}"/>
              </a:ext>
            </a:extLst>
          </p:cNvPr>
          <p:cNvSpPr/>
          <p:nvPr/>
        </p:nvSpPr>
        <p:spPr>
          <a:xfrm>
            <a:off x="5775487" y="2806809"/>
            <a:ext cx="320513" cy="480247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20797-6BBA-F6E2-B742-282939176744}"/>
              </a:ext>
            </a:extLst>
          </p:cNvPr>
          <p:cNvSpPr txBox="1"/>
          <p:nvPr/>
        </p:nvSpPr>
        <p:spPr>
          <a:xfrm>
            <a:off x="6615484" y="2861253"/>
            <a:ext cx="4818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the 16 values in || from a 512-bit transfer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8984583-E80B-18E3-1064-2AD4B0067E32}"/>
              </a:ext>
            </a:extLst>
          </p:cNvPr>
          <p:cNvSpPr/>
          <p:nvPr/>
        </p:nvSpPr>
        <p:spPr>
          <a:xfrm>
            <a:off x="5775487" y="3512043"/>
            <a:ext cx="320513" cy="590830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3644E-F505-A842-2E34-FAF66B3A3089}"/>
              </a:ext>
            </a:extLst>
          </p:cNvPr>
          <p:cNvSpPr txBox="1"/>
          <p:nvPr/>
        </p:nvSpPr>
        <p:spPr>
          <a:xfrm>
            <a:off x="6615485" y="3622792"/>
            <a:ext cx="534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adder tree for summing the 16 elements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FC75EF8-D4F6-32D4-A1BE-DE15019D94BC}"/>
              </a:ext>
            </a:extLst>
          </p:cNvPr>
          <p:cNvSpPr/>
          <p:nvPr/>
        </p:nvSpPr>
        <p:spPr>
          <a:xfrm>
            <a:off x="5775486" y="4340404"/>
            <a:ext cx="320513" cy="1440193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EE966-BA1F-E4F9-88FC-39C1656BB67D}"/>
              </a:ext>
            </a:extLst>
          </p:cNvPr>
          <p:cNvSpPr txBox="1"/>
          <p:nvPr/>
        </p:nvSpPr>
        <p:spPr>
          <a:xfrm>
            <a:off x="6615484" y="4460335"/>
            <a:ext cx="5347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normalization only once we process the last column</a:t>
            </a:r>
          </a:p>
          <a:p>
            <a:pPr marL="457200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Division logic is covered in a later slide</a:t>
            </a:r>
          </a:p>
          <a:p>
            <a:pPr marL="457200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I put the final-column logic inside the loop so that it could be pipelined across rows; note that the row and column loops get flattened together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Also store the rolling column sums for part 2</a:t>
            </a:r>
          </a:p>
        </p:txBody>
      </p:sp>
    </p:spTree>
    <p:extLst>
      <p:ext uri="{BB962C8B-B14F-4D97-AF65-F5344CB8AC3E}">
        <p14:creationId xmlns:p14="http://schemas.microsoft.com/office/powerpoint/2010/main" val="93182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65AD-6A1F-3BE5-F5CE-8ACCE156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C469-2DA4-8F67-B080-CCB521FE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04C45-58AE-D2D9-91F3-352CD5F94274}"/>
              </a:ext>
            </a:extLst>
          </p:cNvPr>
          <p:cNvSpPr txBox="1"/>
          <p:nvPr/>
        </p:nvSpPr>
        <p:spPr>
          <a:xfrm>
            <a:off x="228599" y="1295400"/>
            <a:ext cx="6651171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merged_read_norm_loop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N_ROWS;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[N_COLS];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ARRAY_PARTITION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variable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85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complete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N_COLS; 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II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= 1</a:t>
            </a:r>
            <a:b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512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wide_access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A_WIDE_ACCESS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j)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unsigned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wide_access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8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k);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chunk_sum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if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(j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48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row_sum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US" sz="8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one_shifted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one_shifted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  <a:b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for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c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c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N_COLS;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sz="8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buNone/>
            </a:pPr>
            <a:r>
              <a:rPr lang="en-US" sz="8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   #pragma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85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85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8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8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division_correct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local_row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[c],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85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][c]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norm;</a:t>
            </a:r>
          </a:p>
          <a:p>
            <a:pPr>
              <a:buNone/>
            </a:pPr>
            <a:r>
              <a:rPr lang="en-US" sz="8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sz="8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tmp_col_sum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[c] </a:t>
            </a:r>
            <a:r>
              <a:rPr lang="en-US" sz="8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norm;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}</a:t>
            </a:r>
          </a:p>
          <a:p>
            <a:pPr>
              <a:buNone/>
            </a:pPr>
            <a:r>
              <a:rPr lang="en-US" sz="85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8126D-849F-5F95-67BB-10E3A9BF260B}"/>
              </a:ext>
            </a:extLst>
          </p:cNvPr>
          <p:cNvSpPr txBox="1"/>
          <p:nvPr/>
        </p:nvSpPr>
        <p:spPr>
          <a:xfrm>
            <a:off x="6879770" y="2257201"/>
            <a:ext cx="4778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 runs 256*64/16 = 1024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Initiation Interval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 Depth = 62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US" dirty="0"/>
              <a:t>Total Cycles approx. 1086</a:t>
            </a:r>
          </a:p>
          <a:p>
            <a:pPr marL="285750" indent="-285750">
              <a:buFont typeface="Symbol" pitchFamily="2" charset="2"/>
              <a:buChar char="Þ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Utilization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13,066 LUTs (70,560 avail.)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11,558 FFs (141,120 avail.)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192 DSPs (360 avail.)</a:t>
            </a:r>
          </a:p>
          <a:p>
            <a:pPr lvl="2"/>
            <a:r>
              <a:rPr lang="en-US" dirty="0"/>
              <a:t>= 12 for each divide x 16 unroll</a:t>
            </a:r>
          </a:p>
        </p:txBody>
      </p:sp>
    </p:spTree>
    <p:extLst>
      <p:ext uri="{BB962C8B-B14F-4D97-AF65-F5344CB8AC3E}">
        <p14:creationId xmlns:p14="http://schemas.microsoft.com/office/powerpoint/2010/main" val="146741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A6C6-A75A-DC98-02D9-D28360E4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FF1AF-F71D-A5FE-C713-19B8D0E17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68"/>
            <a:ext cx="10515600" cy="4351338"/>
          </a:xfrm>
        </p:spPr>
        <p:txBody>
          <a:bodyPr/>
          <a:lstStyle/>
          <a:p>
            <a:r>
              <a:rPr lang="en-US" dirty="0"/>
              <a:t>Credit goes to Gemini for final logic</a:t>
            </a:r>
          </a:p>
          <a:p>
            <a:r>
              <a:rPr lang="en-US" dirty="0"/>
              <a:t>How I prompted it:</a:t>
            </a:r>
          </a:p>
          <a:p>
            <a:pPr lvl="1"/>
            <a:r>
              <a:rPr lang="en-US" dirty="0"/>
              <a:t>Very hard to test on the real thing as it goes through multiple processing steps</a:t>
            </a:r>
          </a:p>
          <a:p>
            <a:pPr lvl="1"/>
            <a:r>
              <a:rPr lang="en-US" dirty="0"/>
              <a:t>Instead, used small test script (that I wrote) – see below</a:t>
            </a:r>
          </a:p>
          <a:p>
            <a:pPr lvl="1"/>
            <a:r>
              <a:rPr lang="en-US" dirty="0"/>
              <a:t>Went back and forth pasting the output mismatch on the same simple test-cases until it worked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6C6B-3053-CDD3-A9D9-6AC6C1FF44BD}"/>
              </a:ext>
            </a:extLst>
          </p:cNvPr>
          <p:cNvSpPr txBox="1"/>
          <p:nvPr/>
        </p:nvSpPr>
        <p:spPr>
          <a:xfrm>
            <a:off x="838200" y="5143788"/>
            <a:ext cx="4441371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dirty="0" err="1">
                <a:solidFill>
                  <a:srgbClr val="3B3B3B"/>
                </a:solidFill>
                <a:latin typeface="Menlo" panose="020B0609030804020204" pitchFamily="49" charset="0"/>
              </a:rPr>
              <a:t>d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x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200" dirty="0" err="1">
                <a:solidFill>
                  <a:srgbClr val="3B3B3B"/>
                </a:solidFill>
                <a:latin typeface="Menlo" panose="020B0609030804020204" pitchFamily="49" charset="0"/>
              </a:rPr>
              <a:t>d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y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200" dirty="0" err="1">
                <a:solidFill>
                  <a:srgbClr val="3B3B3B"/>
                </a:solidFill>
                <a:latin typeface="Menlo" panose="020B0609030804020204" pitchFamily="49" charset="0"/>
              </a:rPr>
              <a:t>d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ref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golden_div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(x, y);</a:t>
            </a:r>
          </a:p>
          <a:p>
            <a:pPr>
              <a:lnSpc>
                <a:spcPts val="1350"/>
              </a:lnSpc>
              <a:buNone/>
            </a:pPr>
            <a:r>
              <a:rPr lang="en-US" sz="1200" dirty="0" err="1">
                <a:solidFill>
                  <a:srgbClr val="3B3B3B"/>
                </a:solidFill>
                <a:latin typeface="Menlo" panose="020B0609030804020204" pitchFamily="49" charset="0"/>
              </a:rPr>
              <a:t>d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ata_t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got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new_div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(x, y);</a:t>
            </a: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(ref)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!=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(got)) {</a:t>
            </a: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print_case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"10/7"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x, y, ref, got);</a:t>
            </a: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1BA9F-4AFA-75F1-01FF-2F7EBF55B731}"/>
              </a:ext>
            </a:extLst>
          </p:cNvPr>
          <p:cNvSpPr txBox="1"/>
          <p:nvPr/>
        </p:nvSpPr>
        <p:spPr>
          <a:xfrm>
            <a:off x="5878285" y="5495165"/>
            <a:ext cx="532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</a:t>
            </a:r>
            <a:r>
              <a:rPr lang="en-US" dirty="0"/>
              <a:t>Simple test script. I had Gemini iterate on the </a:t>
            </a:r>
            <a:r>
              <a:rPr lang="en-US" i="1" dirty="0" err="1"/>
              <a:t>new_div</a:t>
            </a:r>
            <a:r>
              <a:rPr lang="en-US" dirty="0"/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209822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ED1D-7F73-0A41-F231-901C1046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BFFC3-78CE-0F63-D42B-A3B543759D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Insights</a:t>
                </a:r>
              </a:p>
              <a:p>
                <a:pPr lvl="1"/>
                <a:r>
                  <a:rPr lang="en-US" dirty="0"/>
                  <a:t>We always underestimate the division</a:t>
                </a:r>
              </a:p>
              <a:p>
                <a:pPr lvl="2"/>
                <a:r>
                  <a:rPr lang="en-US" dirty="0"/>
                  <a:t>A *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this underestimates, it underestimates by 1 unit (of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−14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How to know if we underestimate?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Take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compare to A!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A -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Remainder. If the remainder is &gt;=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−14</m:t>
                        </m:r>
                      </m:sup>
                    </m:sSup>
                  </m:oMath>
                </a14:m>
                <a:r>
                  <a:rPr lang="en-US" dirty="0"/>
                  <a:t>, we can fit another unit. So, we just need to check this and potentially add 1.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BFFC3-78CE-0F63-D42B-A3B543759D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40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473C-4480-D4EB-693D-CAE99B10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13D88B-B3CD-DDD1-B4D4-A98D9B7A5432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257800" cy="4987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want to compute q = N/D.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/>
                  <a:t>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𝐼𝑁𝑉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. This has been truncated and therefore will lead to mismatch if applied exactly.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/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𝑎𝑝𝑝𝑟𝑜𝑥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𝐼𝑁𝑉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⌊"/>
                                <m:endChr m:val="⌋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49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sz="1600" dirty="0"/>
                  <a:t>. When casted back to a </a:t>
                </a:r>
                <a:r>
                  <a:rPr lang="en-US" sz="1600" i="1" dirty="0" err="1"/>
                  <a:t>data_t</a:t>
                </a:r>
                <a:r>
                  <a:rPr lang="en-US" sz="1600" dirty="0"/>
                  <a:t>, this is the correct scale. However, due to the truncation, it will either be exactly right, or off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−14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b="0" dirty="0"/>
              </a:p>
              <a:p>
                <a:pPr marL="342900" indent="-342900">
                  <a:buAutoNum type="arabicPeriod"/>
                </a:pPr>
                <a:r>
                  <a:rPr lang="en-US" sz="1600" b="0" dirty="0"/>
                  <a:t>Now, take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𝑎𝑝𝑝𝑟𝑜𝑥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600" dirty="0"/>
                  <a:t>. Note that this is a reconstruction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, with 2x the fractional bits (i.e. it corresponds to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sz="1600" dirty="0"/>
                  <a:t>).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/>
                  <a:t>Compare to N.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Rem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sz="1600" dirty="0"/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Rem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600" dirty="0"/>
                  <a:t>, then our quotient was too small, and we need to add 1 unit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−14</m:t>
                        </m:r>
                      </m:sup>
                    </m:sSup>
                  </m:oMath>
                </a14:m>
                <a:r>
                  <a:rPr lang="en-US" sz="1600" dirty="0"/>
                  <a:t> to it).</a:t>
                </a:r>
              </a:p>
              <a:p>
                <a:pPr marL="342900" indent="-342900">
                  <a:buAutoNum type="arabicPeriod"/>
                </a:pPr>
                <a:endParaRPr lang="en-US" sz="1600" dirty="0"/>
              </a:p>
              <a:p>
                <a:r>
                  <a:rPr lang="en-US" sz="1600" dirty="0"/>
                  <a:t>While this logic is complicated, it only uses multiplication and bit shifts. The calculations are optimized by noting that D is always greater than N, and therefore the quotient will always be &lt; 1.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13D88B-B3CD-DDD1-B4D4-A98D9B7A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257800" cy="4987969"/>
              </a:xfrm>
              <a:prstGeom prst="rect">
                <a:avLst/>
              </a:prstGeom>
              <a:blipFill>
                <a:blip r:embed="rId2"/>
                <a:stretch>
                  <a:fillRect l="-964" t="-253" r="-241" b="-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358E18-4F47-781A-8A0D-0B751C005CEA}"/>
              </a:ext>
            </a:extLst>
          </p:cNvPr>
          <p:cNvSpPr txBox="1"/>
          <p:nvPr/>
        </p:nvSpPr>
        <p:spPr>
          <a:xfrm>
            <a:off x="6327648" y="1690688"/>
            <a:ext cx="5864352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division_correct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numerator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#pragma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inline</a:t>
            </a: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num_int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numerator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wide_product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num_int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inv_denom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q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wide_product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35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17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q_short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17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)q;</a:t>
            </a:r>
          </a:p>
          <a:p>
            <a:pPr>
              <a:lnSpc>
                <a:spcPts val="1350"/>
              </a:lnSpc>
              <a:buNone/>
            </a:pP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check_mul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q_short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num_int_shifted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num_int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14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64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rem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num_int_shifted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check_mul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  <a:b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if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(rem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denom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q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23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q;</a:t>
            </a:r>
          </a:p>
          <a:p>
            <a:pPr>
              <a:lnSpc>
                <a:spcPts val="1350"/>
              </a:lnSpc>
              <a:buNone/>
            </a:pPr>
            <a:r>
              <a:rPr lang="en-US" sz="1000" dirty="0">
                <a:solidFill>
                  <a:srgbClr val="AF00DB"/>
                </a:solidFill>
                <a:latin typeface="Menlo" panose="020B0609030804020204" pitchFamily="49" charset="0"/>
              </a:rPr>
              <a:t>   r</a:t>
            </a: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eturn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322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55C7-A3FB-3E8C-4702-C3E48A91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AECC-19D4-EA39-7A0E-8FF965C8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5C55B-D7AC-168D-EB2F-56BCBC23C4FD}"/>
              </a:ext>
            </a:extLst>
          </p:cNvPr>
          <p:cNvSpPr txBox="1"/>
          <p:nvPr/>
        </p:nvSpPr>
        <p:spPr>
          <a:xfrm>
            <a:off x="228599" y="2068520"/>
            <a:ext cx="66511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0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merged_scale_write_loop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N_ROWS;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for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j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N_COLS; j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#pragma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pipeline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II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= 1</a:t>
            </a: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ap_uint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512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wide_pack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for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k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  #pragma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HLS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unroll</a:t>
            </a: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][j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col_sum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tmp_col_sum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[j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k];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data_t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res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col_sum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256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  <a:b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endParaRPr lang="en-US" sz="10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unsigned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)(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res);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wide_pack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(k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k)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raw_bits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C_WIDE_ACCESS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N_COLS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j)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16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US" sz="1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wide_pack</a:t>
            </a: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  }</a:t>
            </a:r>
          </a:p>
          <a:p>
            <a:pPr>
              <a:lnSpc>
                <a:spcPts val="1350"/>
              </a:lnSpc>
              <a:buNone/>
            </a:pPr>
            <a:r>
              <a:rPr lang="en-US" sz="10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0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4AE182-C187-86BC-6E91-932FD4038C0D}"/>
              </a:ext>
            </a:extLst>
          </p:cNvPr>
          <p:cNvSpPr/>
          <p:nvPr/>
        </p:nvSpPr>
        <p:spPr>
          <a:xfrm>
            <a:off x="5775487" y="2294745"/>
            <a:ext cx="320513" cy="480247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1582C42-2900-5E9F-7AB8-23820A648F9A}"/>
              </a:ext>
            </a:extLst>
          </p:cNvPr>
          <p:cNvSpPr/>
          <p:nvPr/>
        </p:nvSpPr>
        <p:spPr>
          <a:xfrm>
            <a:off x="5775487" y="3287056"/>
            <a:ext cx="320513" cy="1345903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277C9-C78C-5D74-F885-FF2D68A044E5}"/>
              </a:ext>
            </a:extLst>
          </p:cNvPr>
          <p:cNvSpPr txBox="1"/>
          <p:nvPr/>
        </p:nvSpPr>
        <p:spPr>
          <a:xfrm>
            <a:off x="6432605" y="3636841"/>
            <a:ext cx="5347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Scale 16 at a time (fully unrolled) and write to 512-bit buffer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B52561D-222D-B9E0-5B58-A5201B64FFA4}"/>
              </a:ext>
            </a:extLst>
          </p:cNvPr>
          <p:cNvSpPr/>
          <p:nvPr/>
        </p:nvSpPr>
        <p:spPr>
          <a:xfrm>
            <a:off x="5775486" y="4791455"/>
            <a:ext cx="320513" cy="292609"/>
          </a:xfrm>
          <a:prstGeom prst="rightBrace">
            <a:avLst>
              <a:gd name="adj1" fmla="val 1329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FD332-33A5-607C-DFED-82F1560DF864}"/>
              </a:ext>
            </a:extLst>
          </p:cNvPr>
          <p:cNvSpPr txBox="1"/>
          <p:nvPr/>
        </p:nvSpPr>
        <p:spPr>
          <a:xfrm>
            <a:off x="6432605" y="4754878"/>
            <a:ext cx="534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back the 512-bit buffer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567FE-4121-BBF8-8A85-579AE3A417A2}"/>
              </a:ext>
            </a:extLst>
          </p:cNvPr>
          <p:cNvSpPr txBox="1"/>
          <p:nvPr/>
        </p:nvSpPr>
        <p:spPr>
          <a:xfrm>
            <a:off x="6432605" y="2350202"/>
            <a:ext cx="534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Pipeline with II=1. Depth is only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CDC65-D598-705E-BF8E-1558CA6A1F08}"/>
              </a:ext>
            </a:extLst>
          </p:cNvPr>
          <p:cNvSpPr txBox="1"/>
          <p:nvPr/>
        </p:nvSpPr>
        <p:spPr>
          <a:xfrm>
            <a:off x="475488" y="6083808"/>
            <a:ext cx="1117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Cycles for write loop: approx. 256*64/16 + 4 = 1028 =&gt; Total </a:t>
            </a:r>
            <a:r>
              <a:rPr lang="en-US" dirty="0" err="1"/>
              <a:t>read+write</a:t>
            </a:r>
            <a:r>
              <a:rPr lang="en-US" dirty="0"/>
              <a:t> loop cycles: 2,114. Actual </a:t>
            </a:r>
            <a:r>
              <a:rPr lang="en-US" dirty="0" err="1"/>
              <a:t>cosim</a:t>
            </a:r>
            <a:r>
              <a:rPr lang="en-US" dirty="0"/>
              <a:t>: 2,148.</a:t>
            </a:r>
          </a:p>
        </p:txBody>
      </p:sp>
    </p:spTree>
    <p:extLst>
      <p:ext uri="{BB962C8B-B14F-4D97-AF65-F5344CB8AC3E}">
        <p14:creationId xmlns:p14="http://schemas.microsoft.com/office/powerpoint/2010/main" val="80527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6193</TotalTime>
  <Words>1856</Words>
  <Application>Microsoft Macintosh PowerPoint</Application>
  <PresentationFormat>Widescreen</PresentationFormat>
  <Paragraphs>161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Menlo</vt:lpstr>
      <vt:lpstr>Symbol</vt:lpstr>
      <vt:lpstr>Wingdings</vt:lpstr>
      <vt:lpstr>Office Theme</vt:lpstr>
      <vt:lpstr>FPGA Lab 1</vt:lpstr>
      <vt:lpstr>Read Loop</vt:lpstr>
      <vt:lpstr>Read Loop</vt:lpstr>
      <vt:lpstr>Division Logic</vt:lpstr>
      <vt:lpstr>Division Logic</vt:lpstr>
      <vt:lpstr>Division Logic</vt:lpstr>
      <vt:lpstr>Write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May</dc:creator>
  <cp:lastModifiedBy>Bradley May</cp:lastModifiedBy>
  <cp:revision>2</cp:revision>
  <cp:lastPrinted>2026-02-18T18:45:24Z</cp:lastPrinted>
  <dcterms:created xsi:type="dcterms:W3CDTF">2026-02-18T17:40:12Z</dcterms:created>
  <dcterms:modified xsi:type="dcterms:W3CDTF">2026-02-23T00:53:52Z</dcterms:modified>
</cp:coreProperties>
</file>