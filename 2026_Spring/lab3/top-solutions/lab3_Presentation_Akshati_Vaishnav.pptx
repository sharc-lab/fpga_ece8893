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5" r:id="rId5"/>
    <p:sldId id="261" r:id="rId6"/>
    <p:sldId id="262" r:id="rId7"/>
    <p:sldId id="263" r:id="rId8"/>
    <p:sldId id="266" r:id="rId9"/>
    <p:sldId id="267" r:id="rId10"/>
    <p:sldId id="264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AAF9-B723-890D-142A-9B5B899CC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FD50E-6444-6288-3309-CDEE3B60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4D79F-1F12-0C03-2D45-43D11361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DDB4D-0EFE-8928-4294-F15C5322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EFAA3-DA11-5FFC-F303-05157514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1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D77A-9556-F1D2-8C9E-E0E82667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BDF3-01D7-2D69-B2BC-CD2FB1A4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A310D-B008-C149-E2C4-5E792B33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84BB9-D27A-5CB7-6FE0-B0530022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C61DC-8C11-95FF-1E82-59F4F2CB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6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B8ED-D740-ACD5-8761-CF681217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2725-7340-388D-41E0-B07D0EA29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81261-1C12-33E0-5163-DAFA097C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CAE86-AC53-427A-C74E-D0B4BD4D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3177-FB34-FC50-2FFE-C558644E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4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15F-D16C-09B8-52D8-403AC879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0EBE7-B9B8-D644-EE8D-85510E167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7A059-C834-2F4D-39F3-9BA5A613C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955C2-5EF7-C9D0-997B-E397F265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A6070-2785-C133-B57B-0A3327F5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EFD23-9A39-D8DA-7F9A-C3A3EA1A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2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2520-E0C1-6AE7-C86A-1430537A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A029F-0806-F264-0E24-3E9FF345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01697-FC3C-56F3-5013-4B674A968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72B2F-7827-14ED-74C5-9DC8E3E8E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758CC-74B0-CD4A-24F1-613D87C1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A04F9-49DF-9B35-9AA8-70D29515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15697-84AC-1CCE-5C77-FBBB6B50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57FBE-FFD0-73A5-524D-E688D467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3A65-DA14-C388-5C6D-AD2033C2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56778-3E2F-96E1-3BED-0EA4147E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86337-716E-EB34-FCC3-0F8F87D4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3745D-5CEB-2992-1395-3E2F4273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4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52522-3235-5FB0-2FF3-347D4168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DB631-CD0A-CBD8-0223-90455561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E3416-36A3-B632-9D26-D9EC0E49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6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8E03-0FDC-95AF-62FC-8B08E5A3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C7F5-E6CF-9FC5-822A-D361FEEC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3D54E-A71E-2C89-3B51-3CE2C9BB8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D26B-FC7B-2FA6-DABC-1BAC0E33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30920-98EB-D8ED-E30F-DA5FE4F3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76196-1380-F060-D11B-466FBC7D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2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158B-2EB4-1231-F7DE-01C9D2DE0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3AF5C-24E0-1D4C-B49C-85B23A4D1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54B94-27B6-DCDB-74CA-B27F0207F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2EA8C-E29B-8C14-F141-DDE8E078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7FC2E-7F11-9580-450D-49E8AC80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3C401-2554-37B0-8623-9FA0B6F6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06C0-8C3E-54AF-124E-16BAAA0F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46C56-5295-F034-6FDD-82882700C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24950-B201-E052-43E0-59AEB59F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E0D5-8DAC-8CD9-5D57-B3439DC8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4A9D1-228C-33AA-7261-22C02F27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8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91E8-36E0-BC61-B584-73A576C1E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A05BE-7A02-DA0B-C250-EB0D970D1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3506F-0595-4130-E3BD-8E444803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2E49-F8D2-37C3-3618-E215E8C9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AE0A4-A74F-3924-8BD3-CA3EE548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6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FCD35-B009-85AC-5704-7A52CAE9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1FDFD-3828-ADB5-0AE2-ADEE43D07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AC1D1-08EA-A39F-3030-C9255AFEF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B766E-6142-44E5-9E0B-4945A84D9D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38FAC-F95D-2122-D671-A5EF9D121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52C7C-8426-6C9E-8E97-E9E1C32BD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BE138-B3C3-42FE-B5B8-1D68453A6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3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D578-B909-8801-3F10-32587151B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A2F2-9397-4612-BDF9-9C453C21D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Akshati Vaishnav</a:t>
            </a:r>
          </a:p>
        </p:txBody>
      </p:sp>
    </p:spTree>
    <p:extLst>
      <p:ext uri="{BB962C8B-B14F-4D97-AF65-F5344CB8AC3E}">
        <p14:creationId xmlns:p14="http://schemas.microsoft.com/office/powerpoint/2010/main" val="306342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9E23-AB9C-B2E8-1D81-D15EA623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Reformatting the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71BA-01C5-0F40-EE1E-DE5486F1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baseline into functions</a:t>
            </a:r>
          </a:p>
          <a:p>
            <a:r>
              <a:rPr lang="en-US" dirty="0"/>
              <a:t>Combined k1 and k2 loops because they used the same set of arrays</a:t>
            </a:r>
          </a:p>
          <a:p>
            <a:r>
              <a:rPr lang="en-US" dirty="0"/>
              <a:t>1.13x speedup from baseline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80F5C-3433-A340-EB27-C1AA5628E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03260"/>
            <a:ext cx="5265876" cy="3490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85692-FCFB-DAB6-DA1F-1785060F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1449"/>
            <a:ext cx="4757424" cy="292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9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CDB1-C40C-F314-D7F3-E0677370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Unrolls, pipelining, streaming, and dataflow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E9BF-1280-AC19-938C-D5B0EC0AA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Processing 16 elements at once</a:t>
            </a:r>
          </a:p>
          <a:p>
            <a:r>
              <a:rPr lang="en-US" dirty="0"/>
              <a:t>4218 cycles</a:t>
            </a:r>
          </a:p>
          <a:p>
            <a:r>
              <a:rPr lang="en-US" dirty="0"/>
              <a:t>7.918 ns</a:t>
            </a:r>
          </a:p>
          <a:p>
            <a:r>
              <a:rPr lang="en-US" dirty="0"/>
              <a:t>Utilization (%):  72|   17|      10|     52|    0|</a:t>
            </a:r>
          </a:p>
          <a:p>
            <a:r>
              <a:rPr lang="en-US" dirty="0"/>
              <a:t>Speedup = 275x</a:t>
            </a:r>
          </a:p>
          <a:p>
            <a:r>
              <a:rPr lang="en-US" dirty="0"/>
              <a:t>FIFO usage was blowing up:</a:t>
            </a:r>
          </a:p>
          <a:p>
            <a:pPr lvl="1"/>
            <a:r>
              <a:rPr lang="en-US" dirty="0"/>
              <a:t>Choosing stream sizes carefully</a:t>
            </a:r>
          </a:p>
          <a:p>
            <a:pPr lvl="1"/>
            <a:r>
              <a:rPr lang="en-US" dirty="0"/>
              <a:t>Aggregate pragma: groups all elements of stream into a single-wide vector with bit-alignment so that members can be read and written to simultaneously</a:t>
            </a:r>
          </a:p>
          <a:p>
            <a:pPr lvl="2"/>
            <a:r>
              <a:rPr lang="en-US" dirty="0"/>
              <a:t>Caused some utilization changes, but it didn’t change the speedup</a:t>
            </a:r>
          </a:p>
        </p:txBody>
      </p:sp>
    </p:spTree>
    <p:extLst>
      <p:ext uri="{BB962C8B-B14F-4D97-AF65-F5344CB8AC3E}">
        <p14:creationId xmlns:p14="http://schemas.microsoft.com/office/powerpoint/2010/main" val="245721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48B62-97F1-A163-D1EB-F1606E4A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341E-2435-BD0C-1E9E-4D413DDE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Unrolls, pipelining, streaming, and dataflow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60074-2325-1BBD-59BF-31568BE3AA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488"/>
          <a:stretch>
            <a:fillRect/>
          </a:stretch>
        </p:blipFill>
        <p:spPr>
          <a:xfrm>
            <a:off x="737950" y="2302156"/>
            <a:ext cx="5633205" cy="3386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2F72C2-3826-52F6-C729-ED5FB201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30"/>
          <a:stretch>
            <a:fillRect/>
          </a:stretch>
        </p:blipFill>
        <p:spPr>
          <a:xfrm>
            <a:off x="6471405" y="1825624"/>
            <a:ext cx="4714755" cy="43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8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A388-ADA1-4C92-CE9A-2055B4B8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elements in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BF802-0C7A-FEAD-C3BA-6C0EE22C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elements we can process through bus is 1024</a:t>
            </a:r>
          </a:p>
          <a:p>
            <a:r>
              <a:rPr lang="en-US" dirty="0"/>
              <a:t>Processing 32 elements at once</a:t>
            </a:r>
          </a:p>
          <a:p>
            <a:r>
              <a:rPr lang="en-US" dirty="0"/>
              <a:t>2165 cycles</a:t>
            </a:r>
          </a:p>
          <a:p>
            <a:r>
              <a:rPr lang="en-US" dirty="0"/>
              <a:t>8.834 ns</a:t>
            </a:r>
          </a:p>
          <a:p>
            <a:r>
              <a:rPr lang="en-US" dirty="0"/>
              <a:t>Speedup = 481x</a:t>
            </a:r>
          </a:p>
          <a:p>
            <a:r>
              <a:rPr lang="en-US" dirty="0"/>
              <a:t>Have reached the limit of using a wide bus</a:t>
            </a:r>
          </a:p>
        </p:txBody>
      </p:sp>
    </p:spTree>
    <p:extLst>
      <p:ext uri="{BB962C8B-B14F-4D97-AF65-F5344CB8AC3E}">
        <p14:creationId xmlns:p14="http://schemas.microsoft.com/office/powerpoint/2010/main" val="406848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B9C1-AA44-434B-BB9D-997045E1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Clock Period in </a:t>
            </a:r>
            <a:r>
              <a:rPr lang="en-US" dirty="0" err="1"/>
              <a:t>Tcl</a:t>
            </a:r>
            <a:r>
              <a:rPr lang="en-US" dirty="0"/>
              <a:t>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33FF-F050-FB87-6106-76E877988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Changed it to 2.5ns</a:t>
            </a:r>
          </a:p>
          <a:p>
            <a:r>
              <a:rPr lang="en-US" dirty="0"/>
              <a:t>2201 cycles</a:t>
            </a:r>
          </a:p>
          <a:p>
            <a:r>
              <a:rPr lang="en-US" dirty="0"/>
              <a:t>2.484 ns</a:t>
            </a:r>
          </a:p>
          <a:p>
            <a:r>
              <a:rPr lang="en-US" dirty="0"/>
              <a:t>|Utilization (%)  |       52|   35|      38|     85|    0|</a:t>
            </a:r>
          </a:p>
          <a:p>
            <a:r>
              <a:rPr lang="en-US" dirty="0"/>
              <a:t>Speedup: 1683x</a:t>
            </a:r>
          </a:p>
        </p:txBody>
      </p:sp>
    </p:spTree>
    <p:extLst>
      <p:ext uri="{BB962C8B-B14F-4D97-AF65-F5344CB8AC3E}">
        <p14:creationId xmlns:p14="http://schemas.microsoft.com/office/powerpoint/2010/main" val="227611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A532-4E9E-5FBD-989A-79DA7DA1E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Data Type Sizing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1EBA-185A-CC8B-CCCF-9F6DDBF1F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Trial and error</a:t>
            </a:r>
          </a:p>
          <a:p>
            <a:r>
              <a:rPr lang="en-US" dirty="0"/>
              <a:t>Script clock period: 2ns</a:t>
            </a:r>
          </a:p>
          <a:p>
            <a:r>
              <a:rPr lang="en-US" dirty="0"/>
              <a:t>2188 cycles</a:t>
            </a:r>
          </a:p>
          <a:p>
            <a:r>
              <a:rPr lang="en-US" dirty="0"/>
              <a:t>1.982 ns</a:t>
            </a:r>
          </a:p>
          <a:p>
            <a:r>
              <a:rPr lang="en-US" dirty="0"/>
              <a:t>Speedup: 2122x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08F8D-F009-7310-FAF4-5C80C746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745" y="4642711"/>
            <a:ext cx="7078510" cy="128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3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0F49-6EDD-BB15-ADCD-90B1533C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5813-C7A7-6381-A656-F729A8802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069"/>
            <a:ext cx="3437467" cy="4351338"/>
          </a:xfrm>
        </p:spPr>
        <p:txBody>
          <a:bodyPr/>
          <a:lstStyle/>
          <a:p>
            <a:r>
              <a:rPr lang="en-US" dirty="0"/>
              <a:t>Addition in the k1_k2 function was slowest</a:t>
            </a:r>
          </a:p>
          <a:p>
            <a:r>
              <a:rPr lang="en-US" dirty="0"/>
              <a:t>Converted </a:t>
            </a:r>
            <a:r>
              <a:rPr lang="en-US" dirty="0" err="1"/>
              <a:t>tmp_sum</a:t>
            </a:r>
            <a:r>
              <a:rPr lang="en-US" dirty="0"/>
              <a:t> to be a separate loop with four levels of adders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B35D6-3908-7712-C75D-21887F170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667" y="1210255"/>
            <a:ext cx="7810018" cy="52826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669FA3-8DB2-1C0B-1A52-A70035AE7C5B}"/>
              </a:ext>
            </a:extLst>
          </p:cNvPr>
          <p:cNvSpPr/>
          <p:nvPr/>
        </p:nvSpPr>
        <p:spPr>
          <a:xfrm>
            <a:off x="5158740" y="4701540"/>
            <a:ext cx="2125980" cy="2057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4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5EDE-A042-1BB7-AEB5-A88BEB9F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9A90A-BE7B-85CD-BCE3-1E6FEF99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467" y="1027906"/>
            <a:ext cx="5994400" cy="552216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DA7CBF-F492-CF05-4509-195368922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069"/>
            <a:ext cx="3767667" cy="4351338"/>
          </a:xfrm>
        </p:spPr>
        <p:txBody>
          <a:bodyPr/>
          <a:lstStyle/>
          <a:p>
            <a:r>
              <a:rPr lang="en-US" dirty="0"/>
              <a:t>Addition in the k1_k2 function was slowest</a:t>
            </a:r>
          </a:p>
          <a:p>
            <a:r>
              <a:rPr lang="en-US" dirty="0"/>
              <a:t>Converted </a:t>
            </a:r>
            <a:r>
              <a:rPr lang="en-US" dirty="0" err="1"/>
              <a:t>tmp_sum</a:t>
            </a:r>
            <a:r>
              <a:rPr lang="en-US" dirty="0"/>
              <a:t> to be a separate loop</a:t>
            </a:r>
          </a:p>
          <a:p>
            <a:r>
              <a:rPr lang="en-US" dirty="0"/>
              <a:t>Used complete array partitioning</a:t>
            </a:r>
          </a:p>
          <a:p>
            <a:pPr lvl="1"/>
            <a:r>
              <a:rPr lang="en-US" dirty="0"/>
              <a:t>Utilization was low</a:t>
            </a:r>
          </a:p>
        </p:txBody>
      </p:sp>
    </p:spTree>
    <p:extLst>
      <p:ext uri="{BB962C8B-B14F-4D97-AF65-F5344CB8AC3E}">
        <p14:creationId xmlns:p14="http://schemas.microsoft.com/office/powerpoint/2010/main" val="374341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0257-5446-2650-8204-5F4A2EB3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0C43-8FFB-DFEE-12AE-6CCAC7F9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divisions to constants/multiplication/bit shifts when possible</a:t>
            </a:r>
          </a:p>
          <a:p>
            <a:r>
              <a:rPr lang="en-US" dirty="0"/>
              <a:t>Moving division to be at FIFO insertion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B5F174-BB66-2247-0F67-F47AD079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574" y="431417"/>
            <a:ext cx="5983527" cy="1192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C5EE4-8003-DC39-847E-9507FF68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774" y="3238361"/>
            <a:ext cx="7986452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9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1C06-5B1D-927A-996B-0A7E8D19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FFCF4-37DF-5B9C-F29F-026E5135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Script clock period: 2ns</a:t>
            </a:r>
          </a:p>
          <a:p>
            <a:r>
              <a:rPr lang="en-US" dirty="0"/>
              <a:t>2138 cycles</a:t>
            </a:r>
          </a:p>
          <a:p>
            <a:r>
              <a:rPr lang="en-US" dirty="0"/>
              <a:t>1.906ns clock period</a:t>
            </a:r>
          </a:p>
          <a:p>
            <a:r>
              <a:rPr lang="en-US" dirty="0"/>
              <a:t>2259x period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E463C-96CA-A7CA-0466-6A2B2710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90781"/>
            <a:ext cx="5349402" cy="48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3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A41CD-9B6F-5E1E-E3B6-36C5A324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2085-8CAD-CC6A-8F9B-D95911F9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Adder tree coding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5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13B6-7A8F-306F-4D99-D894233C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4BF8-17B0-3FCF-8B70-909A6AFB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43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290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Lab 3</vt:lpstr>
      <vt:lpstr>Reformatting the Baseline</vt:lpstr>
      <vt:lpstr>Unrolls, pipelining, streaming, and dataflow</vt:lpstr>
      <vt:lpstr>Unrolls, pipelining, streaming, and dataflow</vt:lpstr>
      <vt:lpstr>Increasing elements in vector</vt:lpstr>
      <vt:lpstr>Changing Clock Period in Tcl Script</vt:lpstr>
      <vt:lpstr>Decreasing Data Type Sizing</vt:lpstr>
      <vt:lpstr>Adder tree</vt:lpstr>
      <vt:lpstr>Adder tree</vt:lpstr>
      <vt:lpstr>Minor Updates</vt:lpstr>
      <vt:lpstr>Final Numbers</vt:lpstr>
      <vt:lpstr>LLM Usage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Akshati Akshati</dc:creator>
  <cp:lastModifiedBy>Akshati Akshati</cp:lastModifiedBy>
  <cp:revision>29</cp:revision>
  <dcterms:created xsi:type="dcterms:W3CDTF">2026-03-18T19:31:45Z</dcterms:created>
  <dcterms:modified xsi:type="dcterms:W3CDTF">2026-03-19T19:53:11Z</dcterms:modified>
</cp:coreProperties>
</file>